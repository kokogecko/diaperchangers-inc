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Shrikhand" charset="1" panose="02000000000000000000"/>
      <p:regular r:id="rId18"/>
    </p:embeddedFont>
    <p:embeddedFont>
      <p:font typeface="The Seasons Bold" charset="1" panose="00000000000000000000"/>
      <p:regular r:id="rId19"/>
    </p:embeddedFont>
    <p:embeddedFont>
      <p:font typeface="Old Standard Italics" charset="1" panose="02040503050505090303"/>
      <p:regular r:id="rId20"/>
    </p:embeddedFont>
    <p:embeddedFont>
      <p:font typeface="Old Standard" charset="1" panose="02040503050505020303"/>
      <p:regular r:id="rId22"/>
    </p:embeddedFont>
    <p:embeddedFont>
      <p:font typeface="Hangyaboly" charset="1" panose="00000500000000000000"/>
      <p:regular r:id="rId23"/>
    </p:embeddedFont>
    <p:embeddedFont>
      <p:font typeface="Questrial" charset="1" panose="02000000000000000000"/>
      <p:regular r:id="rId25"/>
    </p:embeddedFont>
    <p:embeddedFont>
      <p:font typeface="The Seasons" charset="1" panose="00000000000000000000"/>
      <p:regular r:id="rId29"/>
    </p:embeddedFont>
    <p:embeddedFont>
      <p:font typeface="Paytone One"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fonts/font32.fntdata" Type="http://schemas.openxmlformats.org/officeDocument/2006/relationships/font"/><Relationship Id="rId33"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4633100" y="0"/>
            <a:ext cx="3647400" cy="10287000"/>
            <a:chOff x="0" y="0"/>
            <a:chExt cx="4863200" cy="13716000"/>
          </a:xfrm>
        </p:grpSpPr>
        <p:sp>
          <p:nvSpPr>
            <p:cNvPr name="Freeform 3" id="3"/>
            <p:cNvSpPr/>
            <p:nvPr/>
          </p:nvSpPr>
          <p:spPr>
            <a:xfrm flipH="false" flipV="false" rot="0">
              <a:off x="0" y="0"/>
              <a:ext cx="4863211" cy="13716000"/>
            </a:xfrm>
            <a:custGeom>
              <a:avLst/>
              <a:gdLst/>
              <a:ahLst/>
              <a:cxnLst/>
              <a:rect r="r" b="b" t="t" l="l"/>
              <a:pathLst>
                <a:path h="13716000" w="4863211">
                  <a:moveTo>
                    <a:pt x="0" y="0"/>
                  </a:moveTo>
                  <a:lnTo>
                    <a:pt x="4863211" y="0"/>
                  </a:lnTo>
                  <a:lnTo>
                    <a:pt x="4863211" y="13716000"/>
                  </a:lnTo>
                  <a:lnTo>
                    <a:pt x="0" y="13716000"/>
                  </a:lnTo>
                  <a:close/>
                </a:path>
              </a:pathLst>
            </a:custGeom>
            <a:solidFill>
              <a:srgbClr val="FEF2F0"/>
            </a:solidFill>
          </p:spPr>
        </p:sp>
      </p:grpSp>
      <p:sp>
        <p:nvSpPr>
          <p:cNvPr name="Freeform 4" id="4"/>
          <p:cNvSpPr/>
          <p:nvPr/>
        </p:nvSpPr>
        <p:spPr>
          <a:xfrm flipH="false" flipV="false" rot="0">
            <a:off x="13459246" y="2332404"/>
            <a:ext cx="2347708" cy="4922916"/>
          </a:xfrm>
          <a:custGeom>
            <a:avLst/>
            <a:gdLst/>
            <a:ahLst/>
            <a:cxnLst/>
            <a:rect r="r" b="b" t="t" l="l"/>
            <a:pathLst>
              <a:path h="4922916" w="2347708">
                <a:moveTo>
                  <a:pt x="0" y="0"/>
                </a:moveTo>
                <a:lnTo>
                  <a:pt x="2347708" y="0"/>
                </a:lnTo>
                <a:lnTo>
                  <a:pt x="2347708" y="4922916"/>
                </a:lnTo>
                <a:lnTo>
                  <a:pt x="0" y="49229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a:grpSpLocks noChangeAspect="true"/>
          </p:cNvGrpSpPr>
          <p:nvPr/>
        </p:nvGrpSpPr>
        <p:grpSpPr>
          <a:xfrm rot="0">
            <a:off x="-992258" y="391397"/>
            <a:ext cx="8547678" cy="8547678"/>
            <a:chOff x="0" y="0"/>
            <a:chExt cx="13716000" cy="13716000"/>
          </a:xfrm>
        </p:grpSpPr>
        <p:sp>
          <p:nvSpPr>
            <p:cNvPr name="Freeform 6" id="6" descr="A pink and white diaper in a circle with a heart  AI-generated content may be incorrect."/>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5"/>
              <a:stretch>
                <a:fillRect l="0" t="0" r="0" b="0"/>
              </a:stretch>
            </a:blipFill>
          </p:spPr>
        </p:sp>
      </p:grpSp>
      <p:sp>
        <p:nvSpPr>
          <p:cNvPr name="TextBox 7" id="7"/>
          <p:cNvSpPr txBox="true"/>
          <p:nvPr/>
        </p:nvSpPr>
        <p:spPr>
          <a:xfrm rot="0">
            <a:off x="5776045" y="2332404"/>
            <a:ext cx="6874180" cy="3038475"/>
          </a:xfrm>
          <a:prstGeom prst="rect">
            <a:avLst/>
          </a:prstGeom>
        </p:spPr>
        <p:txBody>
          <a:bodyPr anchor="t" rtlCol="false" tIns="0" lIns="0" bIns="0" rIns="0">
            <a:spAutoFit/>
          </a:bodyPr>
          <a:lstStyle/>
          <a:p>
            <a:pPr algn="ctr">
              <a:lnSpc>
                <a:spcPts val="8640"/>
              </a:lnSpc>
            </a:pPr>
            <a:r>
              <a:rPr lang="en-US" sz="7200">
                <a:solidFill>
                  <a:srgbClr val="AD2354"/>
                </a:solidFill>
                <a:latin typeface="Shrikhand"/>
                <a:ea typeface="Shrikhand"/>
                <a:cs typeface="Shrikhand"/>
                <a:sym typeface="Shrikhand"/>
              </a:rPr>
              <a:t>Diaper Changers </a:t>
            </a:r>
          </a:p>
          <a:p>
            <a:pPr algn="l">
              <a:lnSpc>
                <a:spcPts val="6719"/>
              </a:lnSpc>
            </a:pPr>
          </a:p>
        </p:txBody>
      </p:sp>
      <p:sp>
        <p:nvSpPr>
          <p:cNvPr name="TextBox 8" id="8"/>
          <p:cNvSpPr txBox="true"/>
          <p:nvPr/>
        </p:nvSpPr>
        <p:spPr>
          <a:xfrm rot="0">
            <a:off x="1201673" y="6612354"/>
            <a:ext cx="13191156" cy="2546985"/>
          </a:xfrm>
          <a:prstGeom prst="rect">
            <a:avLst/>
          </a:prstGeom>
        </p:spPr>
        <p:txBody>
          <a:bodyPr anchor="t" rtlCol="false" tIns="0" lIns="0" bIns="0" rIns="0">
            <a:spAutoFit/>
          </a:bodyPr>
          <a:lstStyle/>
          <a:p>
            <a:pPr algn="just">
              <a:lnSpc>
                <a:spcPts val="4799"/>
              </a:lnSpc>
            </a:pPr>
            <a:r>
              <a:rPr lang="en-US" b="true" sz="3999">
                <a:solidFill>
                  <a:srgbClr val="E53A75"/>
                </a:solidFill>
                <a:latin typeface="The Seasons Bold"/>
                <a:ea typeface="The Seasons Bold"/>
                <a:cs typeface="The Seasons Bold"/>
                <a:sym typeface="The Seasons Bold"/>
              </a:rPr>
              <a:t>Founded by: </a:t>
            </a:r>
          </a:p>
          <a:p>
            <a:pPr algn="just">
              <a:lnSpc>
                <a:spcPts val="4799"/>
              </a:lnSpc>
            </a:pPr>
            <a:r>
              <a:rPr lang="en-US" b="true" sz="3999">
                <a:solidFill>
                  <a:srgbClr val="E53A75"/>
                </a:solidFill>
                <a:latin typeface="The Seasons Bold"/>
                <a:ea typeface="The Seasons Bold"/>
                <a:cs typeface="The Seasons Bold"/>
                <a:sym typeface="The Seasons Bold"/>
              </a:rPr>
              <a:t>-Leng Chan Raksmey </a:t>
            </a:r>
          </a:p>
          <a:p>
            <a:pPr algn="just">
              <a:lnSpc>
                <a:spcPts val="4799"/>
              </a:lnSpc>
            </a:pPr>
            <a:r>
              <a:rPr lang="en-US" b="true" sz="3999">
                <a:solidFill>
                  <a:srgbClr val="E53A75"/>
                </a:solidFill>
                <a:latin typeface="The Seasons Bold"/>
                <a:ea typeface="The Seasons Bold"/>
                <a:cs typeface="The Seasons Bold"/>
                <a:sym typeface="The Seasons Bold"/>
              </a:rPr>
              <a:t>-Kheam Thailong</a:t>
            </a:r>
          </a:p>
          <a:p>
            <a:pPr algn="just">
              <a:lnSpc>
                <a:spcPts val="4799"/>
              </a:lnSpc>
            </a:pPr>
            <a:r>
              <a:rPr lang="en-US" b="true" sz="3999">
                <a:solidFill>
                  <a:srgbClr val="E53A75"/>
                </a:solidFill>
                <a:latin typeface="The Seasons Bold"/>
                <a:ea typeface="The Seasons Bold"/>
                <a:cs typeface="The Seasons Bold"/>
                <a:sym typeface="The Seasons Bold"/>
              </a:rPr>
              <a:t>-Vong Khoy Khun</a:t>
            </a:r>
          </a:p>
        </p:txBody>
      </p:sp>
      <p:sp>
        <p:nvSpPr>
          <p:cNvPr name="TextBox 9" id="9"/>
          <p:cNvSpPr txBox="true"/>
          <p:nvPr/>
        </p:nvSpPr>
        <p:spPr>
          <a:xfrm rot="0">
            <a:off x="9519692" y="4285227"/>
            <a:ext cx="3502581" cy="893445"/>
          </a:xfrm>
          <a:prstGeom prst="rect">
            <a:avLst/>
          </a:prstGeom>
        </p:spPr>
        <p:txBody>
          <a:bodyPr anchor="t" rtlCol="false" tIns="0" lIns="0" bIns="0" rIns="0">
            <a:spAutoFit/>
          </a:bodyPr>
          <a:lstStyle/>
          <a:p>
            <a:pPr algn="ctr">
              <a:lnSpc>
                <a:spcPts val="6000"/>
              </a:lnSpc>
              <a:spcBef>
                <a:spcPct val="0"/>
              </a:spcBef>
            </a:pPr>
            <a:r>
              <a:rPr lang="en-US" sz="5000" i="true">
                <a:solidFill>
                  <a:srgbClr val="AD2354"/>
                </a:solidFill>
                <a:latin typeface="Old Standard Italics"/>
                <a:ea typeface="Old Standard Italics"/>
                <a:cs typeface="Old Standard Italics"/>
                <a:sym typeface="Old Standard Italics"/>
              </a:rPr>
              <a:t>Incorporated</a:t>
            </a:r>
          </a:p>
        </p:txBody>
      </p:sp>
      <p:sp>
        <p:nvSpPr>
          <p:cNvPr name="TextBox 10" id="10"/>
          <p:cNvSpPr txBox="true"/>
          <p:nvPr/>
        </p:nvSpPr>
        <p:spPr>
          <a:xfrm rot="0">
            <a:off x="15190804" y="635318"/>
            <a:ext cx="2531993" cy="701040"/>
          </a:xfrm>
          <a:prstGeom prst="rect">
            <a:avLst/>
          </a:prstGeom>
        </p:spPr>
        <p:txBody>
          <a:bodyPr anchor="t" rtlCol="false" tIns="0" lIns="0" bIns="0" rIns="0">
            <a:spAutoFit/>
          </a:bodyPr>
          <a:lstStyle/>
          <a:p>
            <a:pPr algn="just">
              <a:lnSpc>
                <a:spcPts val="4799"/>
              </a:lnSpc>
            </a:pPr>
            <a:r>
              <a:rPr lang="en-US" sz="3999" b="true">
                <a:solidFill>
                  <a:srgbClr val="E53A75"/>
                </a:solidFill>
                <a:latin typeface="The Seasons Bold"/>
                <a:ea typeface="The Seasons Bold"/>
                <a:cs typeface="The Seasons Bold"/>
                <a:sym typeface="The Seasons Bold"/>
              </a:rPr>
              <a:t>Group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sp>
        <p:nvSpPr>
          <p:cNvPr name="Freeform 2" id="2"/>
          <p:cNvSpPr/>
          <p:nvPr/>
        </p:nvSpPr>
        <p:spPr>
          <a:xfrm flipH="false" flipV="false" rot="0">
            <a:off x="14911592" y="206586"/>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028700" y="2912160"/>
            <a:ext cx="14936477" cy="6360998"/>
            <a:chOff x="0" y="0"/>
            <a:chExt cx="20687184" cy="8810052"/>
          </a:xfrm>
        </p:grpSpPr>
        <p:sp>
          <p:nvSpPr>
            <p:cNvPr name="Freeform 4" id="4"/>
            <p:cNvSpPr/>
            <p:nvPr/>
          </p:nvSpPr>
          <p:spPr>
            <a:xfrm flipH="false" flipV="false" rot="0">
              <a:off x="0" y="0"/>
              <a:ext cx="20687184" cy="8810052"/>
            </a:xfrm>
            <a:custGeom>
              <a:avLst/>
              <a:gdLst/>
              <a:ahLst/>
              <a:cxnLst/>
              <a:rect r="r" b="b" t="t" l="l"/>
              <a:pathLst>
                <a:path h="8810052" w="20687184">
                  <a:moveTo>
                    <a:pt x="0" y="0"/>
                  </a:moveTo>
                  <a:lnTo>
                    <a:pt x="20687184" y="0"/>
                  </a:lnTo>
                  <a:lnTo>
                    <a:pt x="20687184" y="8810052"/>
                  </a:lnTo>
                  <a:lnTo>
                    <a:pt x="0" y="8810052"/>
                  </a:lnTo>
                  <a:close/>
                </a:path>
              </a:pathLst>
            </a:custGeom>
            <a:solidFill>
              <a:srgbClr val="FEF2F0">
                <a:alpha val="80000"/>
              </a:srgbClr>
            </a:solidFill>
          </p:spPr>
        </p:sp>
      </p:grpSp>
      <p:grpSp>
        <p:nvGrpSpPr>
          <p:cNvPr name="Group 5" id="5"/>
          <p:cNvGrpSpPr/>
          <p:nvPr/>
        </p:nvGrpSpPr>
        <p:grpSpPr>
          <a:xfrm rot="0">
            <a:off x="6433105" y="4108284"/>
            <a:ext cx="13547690" cy="3968751"/>
            <a:chOff x="0" y="0"/>
            <a:chExt cx="18063586" cy="5291668"/>
          </a:xfrm>
        </p:grpSpPr>
        <p:sp>
          <p:nvSpPr>
            <p:cNvPr name="Freeform 6" id="6"/>
            <p:cNvSpPr/>
            <p:nvPr/>
          </p:nvSpPr>
          <p:spPr>
            <a:xfrm flipH="false" flipV="false" rot="0">
              <a:off x="0" y="0"/>
              <a:ext cx="18063586" cy="5291668"/>
            </a:xfrm>
            <a:custGeom>
              <a:avLst/>
              <a:gdLst/>
              <a:ahLst/>
              <a:cxnLst/>
              <a:rect r="r" b="b" t="t" l="l"/>
              <a:pathLst>
                <a:path h="5291668" w="18063586">
                  <a:moveTo>
                    <a:pt x="0" y="0"/>
                  </a:moveTo>
                  <a:lnTo>
                    <a:pt x="18063586" y="0"/>
                  </a:lnTo>
                  <a:lnTo>
                    <a:pt x="18063586" y="5291668"/>
                  </a:lnTo>
                  <a:lnTo>
                    <a:pt x="0" y="5291668"/>
                  </a:lnTo>
                  <a:close/>
                </a:path>
              </a:pathLst>
            </a:custGeom>
            <a:solidFill>
              <a:srgbClr val="000000">
                <a:alpha val="0"/>
              </a:srgbClr>
            </a:solidFill>
          </p:spPr>
        </p:sp>
        <p:sp>
          <p:nvSpPr>
            <p:cNvPr name="TextBox 7" id="7"/>
            <p:cNvSpPr txBox="true"/>
            <p:nvPr/>
          </p:nvSpPr>
          <p:spPr>
            <a:xfrm>
              <a:off x="0" y="-123825"/>
              <a:ext cx="18063586" cy="5415493"/>
            </a:xfrm>
            <a:prstGeom prst="rect">
              <a:avLst/>
            </a:prstGeom>
          </p:spPr>
          <p:txBody>
            <a:bodyPr anchor="ctr" rtlCol="false" tIns="0" lIns="0" bIns="0" rIns="0"/>
            <a:lstStyle/>
            <a:p>
              <a:pPr algn="just">
                <a:lnSpc>
                  <a:spcPts val="6000"/>
                </a:lnSpc>
              </a:pPr>
              <a:r>
                <a:rPr lang="en-US" sz="5000">
                  <a:solidFill>
                    <a:srgbClr val="EA5458"/>
                  </a:solidFill>
                  <a:latin typeface="Old Standard"/>
                  <a:ea typeface="Old Standard"/>
                  <a:cs typeface="Old Standard"/>
                  <a:sym typeface="Old Standard"/>
                </a:rPr>
                <a:t>1.Introduction</a:t>
              </a:r>
            </a:p>
            <a:p>
              <a:pPr algn="just">
                <a:lnSpc>
                  <a:spcPts val="6000"/>
                </a:lnSpc>
              </a:pPr>
            </a:p>
            <a:p>
              <a:pPr algn="just">
                <a:lnSpc>
                  <a:spcPts val="6000"/>
                </a:lnSpc>
              </a:pPr>
              <a:r>
                <a:rPr lang="en-US" sz="5000">
                  <a:solidFill>
                    <a:srgbClr val="EA5458"/>
                  </a:solidFill>
                  <a:latin typeface="Old Standard"/>
                  <a:ea typeface="Old Standard"/>
                  <a:cs typeface="Old Standard"/>
                  <a:sym typeface="Old Standard"/>
                </a:rPr>
                <a:t>2.Swot Analysis</a:t>
              </a:r>
            </a:p>
            <a:p>
              <a:pPr algn="just">
                <a:lnSpc>
                  <a:spcPts val="6000"/>
                </a:lnSpc>
              </a:pPr>
            </a:p>
            <a:p>
              <a:pPr algn="just">
                <a:lnSpc>
                  <a:spcPts val="6000"/>
                </a:lnSpc>
              </a:pPr>
              <a:r>
                <a:rPr lang="en-US" sz="5000">
                  <a:solidFill>
                    <a:srgbClr val="EA5458"/>
                  </a:solidFill>
                  <a:latin typeface="Old Standard"/>
                  <a:ea typeface="Old Standard"/>
                  <a:cs typeface="Old Standard"/>
                  <a:sym typeface="Old Standard"/>
                </a:rPr>
                <a:t>3.Conclusion </a:t>
              </a:r>
            </a:p>
          </p:txBody>
        </p:sp>
      </p:grpSp>
      <p:sp>
        <p:nvSpPr>
          <p:cNvPr name="Freeform 8" id="8"/>
          <p:cNvSpPr/>
          <p:nvPr/>
        </p:nvSpPr>
        <p:spPr>
          <a:xfrm flipH="false" flipV="false" rot="0">
            <a:off x="1487023" y="3693337"/>
            <a:ext cx="3778933" cy="4798645"/>
          </a:xfrm>
          <a:custGeom>
            <a:avLst/>
            <a:gdLst/>
            <a:ahLst/>
            <a:cxnLst/>
            <a:rect r="r" b="b" t="t" l="l"/>
            <a:pathLst>
              <a:path h="4798645" w="3778933">
                <a:moveTo>
                  <a:pt x="0" y="0"/>
                </a:moveTo>
                <a:lnTo>
                  <a:pt x="3778933" y="0"/>
                </a:lnTo>
                <a:lnTo>
                  <a:pt x="3778933" y="4798644"/>
                </a:lnTo>
                <a:lnTo>
                  <a:pt x="0" y="47986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376490" y="1253751"/>
            <a:ext cx="9830460" cy="1057275"/>
          </a:xfrm>
          <a:prstGeom prst="rect">
            <a:avLst/>
          </a:prstGeom>
        </p:spPr>
        <p:txBody>
          <a:bodyPr anchor="t" rtlCol="false" tIns="0" lIns="0" bIns="0" rIns="0">
            <a:spAutoFit/>
          </a:bodyPr>
          <a:lstStyle/>
          <a:p>
            <a:pPr algn="ctr">
              <a:lnSpc>
                <a:spcPts val="8399"/>
              </a:lnSpc>
            </a:pPr>
            <a:r>
              <a:rPr lang="en-US" sz="6999" u="sng">
                <a:solidFill>
                  <a:srgbClr val="EA5458"/>
                </a:solidFill>
                <a:latin typeface="Hangyaboly"/>
                <a:ea typeface="Hangyaboly"/>
                <a:cs typeface="Hangyaboly"/>
                <a:sym typeface="Hangyaboly"/>
              </a:rPr>
              <a:t>Our Objectives</a:t>
            </a:r>
          </a:p>
        </p:txBody>
      </p:sp>
      <p:sp>
        <p:nvSpPr>
          <p:cNvPr name="TextBox 10" id="10"/>
          <p:cNvSpPr txBox="true"/>
          <p:nvPr/>
        </p:nvSpPr>
        <p:spPr>
          <a:xfrm rot="0">
            <a:off x="346105" y="635318"/>
            <a:ext cx="2531993" cy="701040"/>
          </a:xfrm>
          <a:prstGeom prst="rect">
            <a:avLst/>
          </a:prstGeom>
        </p:spPr>
        <p:txBody>
          <a:bodyPr anchor="t" rtlCol="false" tIns="0" lIns="0" bIns="0" rIns="0">
            <a:spAutoFit/>
          </a:bodyPr>
          <a:lstStyle/>
          <a:p>
            <a:pPr algn="just">
              <a:lnSpc>
                <a:spcPts val="4799"/>
              </a:lnSpc>
            </a:pPr>
            <a:r>
              <a:rPr lang="en-US" sz="3999" b="true">
                <a:solidFill>
                  <a:srgbClr val="E53A75"/>
                </a:solidFill>
                <a:latin typeface="The Seasons Bold"/>
                <a:ea typeface="The Seasons Bold"/>
                <a:cs typeface="The Seasons Bold"/>
                <a:sym typeface="The Seasons Bold"/>
              </a:rPr>
              <a:t>Group 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434300" y="1870200"/>
            <a:ext cx="15419400" cy="6546600"/>
            <a:chOff x="0" y="0"/>
            <a:chExt cx="20559200" cy="8728800"/>
          </a:xfrm>
        </p:grpSpPr>
        <p:sp>
          <p:nvSpPr>
            <p:cNvPr name="Freeform 3" id="3"/>
            <p:cNvSpPr/>
            <p:nvPr/>
          </p:nvSpPr>
          <p:spPr>
            <a:xfrm flipH="false" flipV="false" rot="0">
              <a:off x="0" y="0"/>
              <a:ext cx="20559140" cy="8728837"/>
            </a:xfrm>
            <a:custGeom>
              <a:avLst/>
              <a:gdLst/>
              <a:ahLst/>
              <a:cxnLst/>
              <a:rect r="r" b="b" t="t" l="l"/>
              <a:pathLst>
                <a:path h="8728837" w="20559140">
                  <a:moveTo>
                    <a:pt x="0" y="0"/>
                  </a:moveTo>
                  <a:lnTo>
                    <a:pt x="20559140" y="0"/>
                  </a:lnTo>
                  <a:lnTo>
                    <a:pt x="20559140" y="8728837"/>
                  </a:lnTo>
                  <a:lnTo>
                    <a:pt x="0" y="8728837"/>
                  </a:lnTo>
                  <a:close/>
                </a:path>
              </a:pathLst>
            </a:custGeom>
            <a:solidFill>
              <a:srgbClr val="FEF2F0"/>
            </a:solidFill>
          </p:spPr>
        </p:sp>
      </p:grpSp>
      <p:sp>
        <p:nvSpPr>
          <p:cNvPr name="Freeform 4" id="4"/>
          <p:cNvSpPr/>
          <p:nvPr/>
        </p:nvSpPr>
        <p:spPr>
          <a:xfrm flipH="false" flipV="false" rot="0">
            <a:off x="15279492" y="652618"/>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198785" y="2215091"/>
            <a:ext cx="3677724" cy="904875"/>
          </a:xfrm>
          <a:prstGeom prst="rect">
            <a:avLst/>
          </a:prstGeom>
        </p:spPr>
        <p:txBody>
          <a:bodyPr anchor="t" rtlCol="false" tIns="0" lIns="0" bIns="0" rIns="0">
            <a:spAutoFit/>
          </a:bodyPr>
          <a:lstStyle/>
          <a:p>
            <a:pPr algn="l">
              <a:lnSpc>
                <a:spcPts val="7199"/>
              </a:lnSpc>
            </a:pPr>
            <a:r>
              <a:rPr lang="en-US" sz="5999">
                <a:solidFill>
                  <a:srgbClr val="EA5458"/>
                </a:solidFill>
                <a:latin typeface="Hangyaboly"/>
                <a:ea typeface="Hangyaboly"/>
                <a:cs typeface="Hangyaboly"/>
                <a:sym typeface="Hangyaboly"/>
              </a:rPr>
              <a:t>Introduction</a:t>
            </a:r>
          </a:p>
        </p:txBody>
      </p:sp>
      <p:grpSp>
        <p:nvGrpSpPr>
          <p:cNvPr name="Group 6" id="6"/>
          <p:cNvGrpSpPr/>
          <p:nvPr/>
        </p:nvGrpSpPr>
        <p:grpSpPr>
          <a:xfrm rot="0">
            <a:off x="2198785" y="3272321"/>
            <a:ext cx="13926614" cy="5442966"/>
            <a:chOff x="0" y="0"/>
            <a:chExt cx="18568818" cy="7257288"/>
          </a:xfrm>
        </p:grpSpPr>
        <p:sp>
          <p:nvSpPr>
            <p:cNvPr name="Freeform 7" id="7"/>
            <p:cNvSpPr/>
            <p:nvPr/>
          </p:nvSpPr>
          <p:spPr>
            <a:xfrm flipH="false" flipV="false" rot="0">
              <a:off x="0" y="0"/>
              <a:ext cx="18568819" cy="7257288"/>
            </a:xfrm>
            <a:custGeom>
              <a:avLst/>
              <a:gdLst/>
              <a:ahLst/>
              <a:cxnLst/>
              <a:rect r="r" b="b" t="t" l="l"/>
              <a:pathLst>
                <a:path h="7257288" w="18568819">
                  <a:moveTo>
                    <a:pt x="0" y="0"/>
                  </a:moveTo>
                  <a:lnTo>
                    <a:pt x="18568819" y="0"/>
                  </a:lnTo>
                  <a:lnTo>
                    <a:pt x="18568819" y="7257288"/>
                  </a:lnTo>
                  <a:lnTo>
                    <a:pt x="0" y="7257288"/>
                  </a:lnTo>
                  <a:close/>
                </a:path>
              </a:pathLst>
            </a:custGeom>
            <a:solidFill>
              <a:srgbClr val="000000">
                <a:alpha val="0"/>
              </a:srgbClr>
            </a:solidFill>
          </p:spPr>
        </p:sp>
        <p:sp>
          <p:nvSpPr>
            <p:cNvPr name="TextBox 8" id="8"/>
            <p:cNvSpPr txBox="true"/>
            <p:nvPr/>
          </p:nvSpPr>
          <p:spPr>
            <a:xfrm>
              <a:off x="0" y="-9525"/>
              <a:ext cx="18568818" cy="7266813"/>
            </a:xfrm>
            <a:prstGeom prst="rect">
              <a:avLst/>
            </a:prstGeom>
          </p:spPr>
          <p:txBody>
            <a:bodyPr anchor="ctr" rtlCol="false" tIns="0" lIns="0" bIns="0" rIns="0"/>
            <a:lstStyle/>
            <a:p>
              <a:pPr algn="l">
                <a:lnSpc>
                  <a:spcPts val="4320"/>
                </a:lnSpc>
              </a:pPr>
              <a:r>
                <a:rPr lang="en-US" sz="3600">
                  <a:solidFill>
                    <a:srgbClr val="EA5458"/>
                  </a:solidFill>
                  <a:latin typeface="Questrial"/>
                  <a:ea typeface="Questrial"/>
                  <a:cs typeface="Questrial"/>
                  <a:sym typeface="Questrial"/>
                </a:rPr>
                <a:t>          Diaper changers, Inc is a family friendly company that cares for your children's care and does the most to help reserve our beautiful planet so that your children can live long prosperous lives in the unpolluted future. </a:t>
              </a:r>
            </a:p>
            <a:p>
              <a:pPr algn="l">
                <a:lnSpc>
                  <a:spcPts val="4320"/>
                </a:lnSpc>
              </a:pPr>
              <a:r>
                <a:rPr lang="en-US" sz="3600">
                  <a:solidFill>
                    <a:srgbClr val="EA5458"/>
                  </a:solidFill>
                  <a:latin typeface="Questrial"/>
                  <a:ea typeface="Questrial"/>
                  <a:cs typeface="Questrial"/>
                  <a:sym typeface="Questrial"/>
                </a:rPr>
                <a:t>          We provide a service of caring for your children 24/7 from the ages of 0-5. This includes changing their diapers (with our eco-friendly biodegradable ones) and all other different methods for baby care as our employees are thoroughly trained and will be the best choice for you and your children.</a:t>
              </a:r>
            </a:p>
            <a:p>
              <a:pPr algn="l">
                <a:lnSpc>
                  <a:spcPts val="4320"/>
                </a:lnSpc>
              </a:pPr>
            </a:p>
          </p:txBody>
        </p:sp>
      </p:grpSp>
      <p:sp>
        <p:nvSpPr>
          <p:cNvPr name="TextBox 9" id="9"/>
          <p:cNvSpPr txBox="true"/>
          <p:nvPr/>
        </p:nvSpPr>
        <p:spPr>
          <a:xfrm rot="0">
            <a:off x="346105" y="635318"/>
            <a:ext cx="2531993" cy="701040"/>
          </a:xfrm>
          <a:prstGeom prst="rect">
            <a:avLst/>
          </a:prstGeom>
        </p:spPr>
        <p:txBody>
          <a:bodyPr anchor="t" rtlCol="false" tIns="0" lIns="0" bIns="0" rIns="0">
            <a:spAutoFit/>
          </a:bodyPr>
          <a:lstStyle/>
          <a:p>
            <a:pPr algn="just">
              <a:lnSpc>
                <a:spcPts val="4799"/>
              </a:lnSpc>
            </a:pPr>
            <a:r>
              <a:rPr lang="en-US" sz="3999" b="true">
                <a:solidFill>
                  <a:srgbClr val="E53A75"/>
                </a:solidFill>
                <a:latin typeface="The Seasons Bold"/>
                <a:ea typeface="The Seasons Bold"/>
                <a:cs typeface="The Seasons Bold"/>
                <a:sym typeface="The Seasons Bold"/>
              </a:rPr>
              <a:t>Group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434300" y="1870200"/>
            <a:ext cx="15419400" cy="6546600"/>
            <a:chOff x="0" y="0"/>
            <a:chExt cx="20559200" cy="8728800"/>
          </a:xfrm>
        </p:grpSpPr>
        <p:sp>
          <p:nvSpPr>
            <p:cNvPr name="Freeform 3" id="3"/>
            <p:cNvSpPr/>
            <p:nvPr/>
          </p:nvSpPr>
          <p:spPr>
            <a:xfrm flipH="false" flipV="false" rot="0">
              <a:off x="0" y="0"/>
              <a:ext cx="20559140" cy="8728837"/>
            </a:xfrm>
            <a:custGeom>
              <a:avLst/>
              <a:gdLst/>
              <a:ahLst/>
              <a:cxnLst/>
              <a:rect r="r" b="b" t="t" l="l"/>
              <a:pathLst>
                <a:path h="8728837" w="20559140">
                  <a:moveTo>
                    <a:pt x="0" y="0"/>
                  </a:moveTo>
                  <a:lnTo>
                    <a:pt x="20559140" y="0"/>
                  </a:lnTo>
                  <a:lnTo>
                    <a:pt x="20559140" y="8728837"/>
                  </a:lnTo>
                  <a:lnTo>
                    <a:pt x="0" y="8728837"/>
                  </a:lnTo>
                  <a:close/>
                </a:path>
              </a:pathLst>
            </a:custGeom>
            <a:solidFill>
              <a:srgbClr val="FEF2F0"/>
            </a:solidFill>
          </p:spPr>
        </p:sp>
      </p:grpSp>
      <p:sp>
        <p:nvSpPr>
          <p:cNvPr name="Freeform 4" id="4"/>
          <p:cNvSpPr/>
          <p:nvPr/>
        </p:nvSpPr>
        <p:spPr>
          <a:xfrm flipH="false" flipV="false" rot="0">
            <a:off x="652546" y="7408604"/>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279492" y="652618"/>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2776200" y="2614200"/>
            <a:ext cx="12735600" cy="5058600"/>
            <a:chOff x="0" y="0"/>
            <a:chExt cx="16980800" cy="6744800"/>
          </a:xfrm>
        </p:grpSpPr>
        <p:sp>
          <p:nvSpPr>
            <p:cNvPr name="Freeform 7" id="7"/>
            <p:cNvSpPr/>
            <p:nvPr/>
          </p:nvSpPr>
          <p:spPr>
            <a:xfrm flipH="false" flipV="false" rot="0">
              <a:off x="0" y="0"/>
              <a:ext cx="16980801" cy="6744800"/>
            </a:xfrm>
            <a:custGeom>
              <a:avLst/>
              <a:gdLst/>
              <a:ahLst/>
              <a:cxnLst/>
              <a:rect r="r" b="b" t="t" l="l"/>
              <a:pathLst>
                <a:path h="6744800" w="16980801">
                  <a:moveTo>
                    <a:pt x="0" y="0"/>
                  </a:moveTo>
                  <a:lnTo>
                    <a:pt x="16980801" y="0"/>
                  </a:lnTo>
                  <a:lnTo>
                    <a:pt x="16980801" y="6744800"/>
                  </a:lnTo>
                  <a:lnTo>
                    <a:pt x="0" y="6744800"/>
                  </a:lnTo>
                  <a:close/>
                </a:path>
              </a:pathLst>
            </a:custGeom>
            <a:solidFill>
              <a:srgbClr val="000000">
                <a:alpha val="0"/>
              </a:srgbClr>
            </a:solidFill>
          </p:spPr>
        </p:sp>
        <p:sp>
          <p:nvSpPr>
            <p:cNvPr name="TextBox 8" id="8"/>
            <p:cNvSpPr txBox="true"/>
            <p:nvPr/>
          </p:nvSpPr>
          <p:spPr>
            <a:xfrm>
              <a:off x="0" y="9525"/>
              <a:ext cx="16980800" cy="6735275"/>
            </a:xfrm>
            <a:prstGeom prst="rect">
              <a:avLst/>
            </a:prstGeom>
          </p:spPr>
          <p:txBody>
            <a:bodyPr anchor="ctr" rtlCol="false" tIns="0" lIns="0" bIns="0" rIns="0"/>
            <a:lstStyle/>
            <a:p>
              <a:pPr algn="ctr">
                <a:lnSpc>
                  <a:spcPts val="17280"/>
                </a:lnSpc>
              </a:pPr>
              <a:r>
                <a:rPr lang="en-US" sz="14400">
                  <a:solidFill>
                    <a:srgbClr val="EA5458"/>
                  </a:solidFill>
                  <a:latin typeface="Hangyaboly"/>
                  <a:ea typeface="Hangyaboly"/>
                  <a:cs typeface="Hangyaboly"/>
                  <a:sym typeface="Hangyaboly"/>
                </a:rPr>
                <a:t>SWOT ANALYSIS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0" y="0"/>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FEF2F0"/>
            </a:solidFill>
          </p:spPr>
        </p:sp>
      </p:grpSp>
      <p:sp>
        <p:nvSpPr>
          <p:cNvPr name="Freeform 4" id="4"/>
          <p:cNvSpPr/>
          <p:nvPr/>
        </p:nvSpPr>
        <p:spPr>
          <a:xfrm flipH="false" flipV="false" rot="0">
            <a:off x="15610288" y="7874086"/>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6769" y="8130889"/>
            <a:ext cx="2231228" cy="1745936"/>
          </a:xfrm>
          <a:custGeom>
            <a:avLst/>
            <a:gdLst/>
            <a:ahLst/>
            <a:cxnLst/>
            <a:rect r="r" b="b" t="t" l="l"/>
            <a:pathLst>
              <a:path h="1745936" w="2231228">
                <a:moveTo>
                  <a:pt x="0" y="0"/>
                </a:moveTo>
                <a:lnTo>
                  <a:pt x="2231227" y="0"/>
                </a:lnTo>
                <a:lnTo>
                  <a:pt x="2231227" y="1745936"/>
                </a:lnTo>
                <a:lnTo>
                  <a:pt x="0" y="1745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1716" y="7615621"/>
            <a:ext cx="1733968" cy="2671379"/>
          </a:xfrm>
          <a:custGeom>
            <a:avLst/>
            <a:gdLst/>
            <a:ahLst/>
            <a:cxnLst/>
            <a:rect r="r" b="b" t="t" l="l"/>
            <a:pathLst>
              <a:path h="2671379" w="1733968">
                <a:moveTo>
                  <a:pt x="0" y="0"/>
                </a:moveTo>
                <a:lnTo>
                  <a:pt x="1733968" y="0"/>
                </a:lnTo>
                <a:lnTo>
                  <a:pt x="1733968" y="2671379"/>
                </a:lnTo>
                <a:lnTo>
                  <a:pt x="0" y="2671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3040575" y="805506"/>
            <a:ext cx="15225150" cy="969645"/>
          </a:xfrm>
          <a:prstGeom prst="rect">
            <a:avLst/>
          </a:prstGeom>
        </p:spPr>
        <p:txBody>
          <a:bodyPr anchor="t" rtlCol="false" tIns="0" lIns="0" bIns="0" rIns="0">
            <a:spAutoFit/>
          </a:bodyPr>
          <a:lstStyle/>
          <a:p>
            <a:pPr algn="ctr">
              <a:lnSpc>
                <a:spcPts val="6719"/>
              </a:lnSpc>
            </a:pPr>
            <a:r>
              <a:rPr lang="en-US" b="true" sz="5599">
                <a:solidFill>
                  <a:srgbClr val="EA5458"/>
                </a:solidFill>
                <a:latin typeface="The Seasons Bold"/>
                <a:ea typeface="The Seasons Bold"/>
                <a:cs typeface="The Seasons Bold"/>
                <a:sym typeface="The Seasons Bold"/>
              </a:rPr>
              <a:t>STRENGTHS</a:t>
            </a:r>
          </a:p>
        </p:txBody>
      </p:sp>
      <p:sp>
        <p:nvSpPr>
          <p:cNvPr name="TextBox 8" id="8"/>
          <p:cNvSpPr txBox="true"/>
          <p:nvPr/>
        </p:nvSpPr>
        <p:spPr>
          <a:xfrm rot="0">
            <a:off x="-2689057" y="2824546"/>
            <a:ext cx="14093159" cy="748665"/>
          </a:xfrm>
          <a:prstGeom prst="rect">
            <a:avLst/>
          </a:prstGeom>
        </p:spPr>
        <p:txBody>
          <a:bodyPr anchor="t" rtlCol="false" tIns="0" lIns="0" bIns="0" rIns="0">
            <a:spAutoFit/>
          </a:bodyPr>
          <a:lstStyle/>
          <a:p>
            <a:pPr algn="ctr">
              <a:lnSpc>
                <a:spcPts val="5159"/>
              </a:lnSpc>
            </a:pPr>
            <a:r>
              <a:rPr lang="en-US" b="true" sz="4299">
                <a:solidFill>
                  <a:srgbClr val="EA5458"/>
                </a:solidFill>
                <a:latin typeface="The Seasons Bold"/>
                <a:ea typeface="The Seasons Bold"/>
                <a:cs typeface="The Seasons Bold"/>
                <a:sym typeface="The Seasons Bold"/>
              </a:rPr>
              <a:t>-Fast and reliable service</a:t>
            </a:r>
          </a:p>
        </p:txBody>
      </p:sp>
      <p:sp>
        <p:nvSpPr>
          <p:cNvPr name="TextBox 9" id="9"/>
          <p:cNvSpPr txBox="true"/>
          <p:nvPr/>
        </p:nvSpPr>
        <p:spPr>
          <a:xfrm rot="0">
            <a:off x="6153540" y="805506"/>
            <a:ext cx="15225150" cy="969645"/>
          </a:xfrm>
          <a:prstGeom prst="rect">
            <a:avLst/>
          </a:prstGeom>
        </p:spPr>
        <p:txBody>
          <a:bodyPr anchor="t" rtlCol="false" tIns="0" lIns="0" bIns="0" rIns="0">
            <a:spAutoFit/>
          </a:bodyPr>
          <a:lstStyle/>
          <a:p>
            <a:pPr algn="ctr">
              <a:lnSpc>
                <a:spcPts val="6719"/>
              </a:lnSpc>
            </a:pPr>
            <a:r>
              <a:rPr lang="en-US" b="true" sz="5599">
                <a:solidFill>
                  <a:srgbClr val="EA5458"/>
                </a:solidFill>
                <a:latin typeface="The Seasons Bold"/>
                <a:ea typeface="The Seasons Bold"/>
                <a:cs typeface="The Seasons Bold"/>
                <a:sym typeface="The Seasons Bold"/>
              </a:rPr>
              <a:t>WEAKNESSES</a:t>
            </a:r>
          </a:p>
        </p:txBody>
      </p:sp>
      <p:sp>
        <p:nvSpPr>
          <p:cNvPr name="TextBox 10" id="10"/>
          <p:cNvSpPr txBox="true"/>
          <p:nvPr/>
        </p:nvSpPr>
        <p:spPr>
          <a:xfrm rot="0">
            <a:off x="-2689057" y="4335482"/>
            <a:ext cx="14093159" cy="1377315"/>
          </a:xfrm>
          <a:prstGeom prst="rect">
            <a:avLst/>
          </a:prstGeom>
        </p:spPr>
        <p:txBody>
          <a:bodyPr anchor="t" rtlCol="false" tIns="0" lIns="0" bIns="0" rIns="0">
            <a:spAutoFit/>
          </a:bodyPr>
          <a:lstStyle/>
          <a:p>
            <a:pPr algn="ctr">
              <a:lnSpc>
                <a:spcPts val="5039"/>
              </a:lnSpc>
            </a:pPr>
            <a:r>
              <a:rPr lang="en-US" sz="4199" b="true">
                <a:solidFill>
                  <a:srgbClr val="EA5458"/>
                </a:solidFill>
                <a:latin typeface="The Seasons Bold"/>
                <a:ea typeface="The Seasons Bold"/>
                <a:cs typeface="The Seasons Bold"/>
                <a:sym typeface="The Seasons Bold"/>
              </a:rPr>
              <a:t>-Selling a service + product</a:t>
            </a:r>
          </a:p>
          <a:p>
            <a:pPr algn="ctr">
              <a:lnSpc>
                <a:spcPts val="5039"/>
              </a:lnSpc>
            </a:pPr>
            <a:r>
              <a:rPr lang="en-US" b="true" sz="4199">
                <a:solidFill>
                  <a:srgbClr val="EA5458"/>
                </a:solidFill>
                <a:latin typeface="The Seasons Bold"/>
                <a:ea typeface="The Seasons Bold"/>
                <a:cs typeface="The Seasons Bold"/>
                <a:sym typeface="The Seasons Bold"/>
              </a:rPr>
              <a:t>with a cause!</a:t>
            </a:r>
          </a:p>
        </p:txBody>
      </p:sp>
      <p:sp>
        <p:nvSpPr>
          <p:cNvPr name="TextBox 11" id="11"/>
          <p:cNvSpPr txBox="true"/>
          <p:nvPr/>
        </p:nvSpPr>
        <p:spPr>
          <a:xfrm rot="0">
            <a:off x="-2474579" y="6669107"/>
            <a:ext cx="14093159" cy="731520"/>
          </a:xfrm>
          <a:prstGeom prst="rect">
            <a:avLst/>
          </a:prstGeom>
        </p:spPr>
        <p:txBody>
          <a:bodyPr anchor="t" rtlCol="false" tIns="0" lIns="0" bIns="0" rIns="0">
            <a:spAutoFit/>
          </a:bodyPr>
          <a:lstStyle/>
          <a:p>
            <a:pPr algn="ctr">
              <a:lnSpc>
                <a:spcPts val="5039"/>
              </a:lnSpc>
            </a:pPr>
            <a:r>
              <a:rPr lang="en-US" b="true" sz="4199">
                <a:solidFill>
                  <a:srgbClr val="EA5458"/>
                </a:solidFill>
                <a:latin typeface="The Seasons Bold"/>
                <a:ea typeface="The Seasons Bold"/>
                <a:cs typeface="The Seasons Bold"/>
                <a:sym typeface="The Seasons Bold"/>
              </a:rPr>
              <a:t>-Thoroughly trained staff</a:t>
            </a:r>
          </a:p>
        </p:txBody>
      </p:sp>
      <p:sp>
        <p:nvSpPr>
          <p:cNvPr name="TextBox 12" id="12"/>
          <p:cNvSpPr txBox="true"/>
          <p:nvPr/>
        </p:nvSpPr>
        <p:spPr>
          <a:xfrm rot="0">
            <a:off x="6719536" y="2824546"/>
            <a:ext cx="14093159" cy="731520"/>
          </a:xfrm>
          <a:prstGeom prst="rect">
            <a:avLst/>
          </a:prstGeom>
        </p:spPr>
        <p:txBody>
          <a:bodyPr anchor="t" rtlCol="false" tIns="0" lIns="0" bIns="0" rIns="0">
            <a:spAutoFit/>
          </a:bodyPr>
          <a:lstStyle/>
          <a:p>
            <a:pPr algn="ctr">
              <a:lnSpc>
                <a:spcPts val="5039"/>
              </a:lnSpc>
            </a:pPr>
            <a:r>
              <a:rPr lang="en-US" b="true" sz="4199">
                <a:solidFill>
                  <a:srgbClr val="EA5458"/>
                </a:solidFill>
                <a:latin typeface="The Seasons Bold"/>
                <a:ea typeface="The Seasons Bold"/>
                <a:cs typeface="The Seasons Bold"/>
                <a:sym typeface="The Seasons Bold"/>
              </a:rPr>
              <a:t>-New business</a:t>
            </a:r>
          </a:p>
        </p:txBody>
      </p:sp>
      <p:sp>
        <p:nvSpPr>
          <p:cNvPr name="TextBox 13" id="13"/>
          <p:cNvSpPr txBox="true"/>
          <p:nvPr/>
        </p:nvSpPr>
        <p:spPr>
          <a:xfrm rot="0">
            <a:off x="6719536" y="4411980"/>
            <a:ext cx="14093159" cy="731520"/>
          </a:xfrm>
          <a:prstGeom prst="rect">
            <a:avLst/>
          </a:prstGeom>
        </p:spPr>
        <p:txBody>
          <a:bodyPr anchor="t" rtlCol="false" tIns="0" lIns="0" bIns="0" rIns="0">
            <a:spAutoFit/>
          </a:bodyPr>
          <a:lstStyle/>
          <a:p>
            <a:pPr algn="ctr">
              <a:lnSpc>
                <a:spcPts val="5039"/>
              </a:lnSpc>
            </a:pPr>
            <a:r>
              <a:rPr lang="en-US" b="true" sz="4199">
                <a:solidFill>
                  <a:srgbClr val="EA5458"/>
                </a:solidFill>
                <a:latin typeface="The Seasons Bold"/>
                <a:ea typeface="The Seasons Bold"/>
                <a:cs typeface="The Seasons Bold"/>
                <a:sym typeface="The Seasons Bold"/>
              </a:rPr>
              <a:t>-Lack of funding</a:t>
            </a:r>
          </a:p>
        </p:txBody>
      </p:sp>
      <p:sp>
        <p:nvSpPr>
          <p:cNvPr name="TextBox 14" id="14"/>
          <p:cNvSpPr txBox="true"/>
          <p:nvPr/>
        </p:nvSpPr>
        <p:spPr>
          <a:xfrm rot="0">
            <a:off x="6719536" y="6669107"/>
            <a:ext cx="14093159" cy="731520"/>
          </a:xfrm>
          <a:prstGeom prst="rect">
            <a:avLst/>
          </a:prstGeom>
        </p:spPr>
        <p:txBody>
          <a:bodyPr anchor="t" rtlCol="false" tIns="0" lIns="0" bIns="0" rIns="0">
            <a:spAutoFit/>
          </a:bodyPr>
          <a:lstStyle/>
          <a:p>
            <a:pPr algn="ctr">
              <a:lnSpc>
                <a:spcPts val="5039"/>
              </a:lnSpc>
            </a:pPr>
            <a:r>
              <a:rPr lang="en-US" b="true" sz="4199">
                <a:solidFill>
                  <a:srgbClr val="EA5458"/>
                </a:solidFill>
                <a:latin typeface="The Seasons Bold"/>
                <a:ea typeface="The Seasons Bold"/>
                <a:cs typeface="The Seasons Bold"/>
                <a:sym typeface="The Seasons Bold"/>
              </a:rPr>
              <a:t>-Slow early production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531425" y="2897302"/>
            <a:ext cx="14936477" cy="6360998"/>
            <a:chOff x="0" y="0"/>
            <a:chExt cx="20687184" cy="8810052"/>
          </a:xfrm>
        </p:grpSpPr>
        <p:sp>
          <p:nvSpPr>
            <p:cNvPr name="Freeform 3" id="3"/>
            <p:cNvSpPr/>
            <p:nvPr/>
          </p:nvSpPr>
          <p:spPr>
            <a:xfrm flipH="false" flipV="false" rot="0">
              <a:off x="0" y="0"/>
              <a:ext cx="20687184" cy="8810052"/>
            </a:xfrm>
            <a:custGeom>
              <a:avLst/>
              <a:gdLst/>
              <a:ahLst/>
              <a:cxnLst/>
              <a:rect r="r" b="b" t="t" l="l"/>
              <a:pathLst>
                <a:path h="8810052" w="20687184">
                  <a:moveTo>
                    <a:pt x="0" y="0"/>
                  </a:moveTo>
                  <a:lnTo>
                    <a:pt x="20687184" y="0"/>
                  </a:lnTo>
                  <a:lnTo>
                    <a:pt x="20687184" y="8810052"/>
                  </a:lnTo>
                  <a:lnTo>
                    <a:pt x="0" y="8810052"/>
                  </a:lnTo>
                  <a:close/>
                </a:path>
              </a:pathLst>
            </a:custGeom>
            <a:solidFill>
              <a:srgbClr val="FEF2F0"/>
            </a:solidFill>
          </p:spPr>
        </p:sp>
      </p:grpSp>
      <p:sp>
        <p:nvSpPr>
          <p:cNvPr name="Freeform 4" id="4"/>
          <p:cNvSpPr/>
          <p:nvPr/>
        </p:nvSpPr>
        <p:spPr>
          <a:xfrm flipH="false" flipV="false" rot="0">
            <a:off x="15294048" y="637760"/>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3645373" y="5503166"/>
            <a:ext cx="4347310" cy="4783834"/>
          </a:xfrm>
          <a:custGeom>
            <a:avLst/>
            <a:gdLst/>
            <a:ahLst/>
            <a:cxnLst/>
            <a:rect r="r" b="b" t="t" l="l"/>
            <a:pathLst>
              <a:path h="4783834" w="4347310">
                <a:moveTo>
                  <a:pt x="4347310" y="0"/>
                </a:moveTo>
                <a:lnTo>
                  <a:pt x="0" y="0"/>
                </a:lnTo>
                <a:lnTo>
                  <a:pt x="0" y="4783834"/>
                </a:lnTo>
                <a:lnTo>
                  <a:pt x="4347310" y="4783834"/>
                </a:lnTo>
                <a:lnTo>
                  <a:pt x="4347310" y="0"/>
                </a:lnTo>
                <a:close/>
              </a:path>
            </a:pathLst>
          </a:custGeom>
          <a:blipFill>
            <a:blip r:embed="rId5"/>
            <a:stretch>
              <a:fillRect l="0" t="0" r="0" b="0"/>
            </a:stretch>
          </a:blipFill>
        </p:spPr>
      </p:sp>
      <p:sp>
        <p:nvSpPr>
          <p:cNvPr name="TextBox 6" id="6"/>
          <p:cNvSpPr txBox="true"/>
          <p:nvPr/>
        </p:nvSpPr>
        <p:spPr>
          <a:xfrm rot="0">
            <a:off x="1531425" y="867175"/>
            <a:ext cx="15225150" cy="969645"/>
          </a:xfrm>
          <a:prstGeom prst="rect">
            <a:avLst/>
          </a:prstGeom>
        </p:spPr>
        <p:txBody>
          <a:bodyPr anchor="t" rtlCol="false" tIns="0" lIns="0" bIns="0" rIns="0">
            <a:spAutoFit/>
          </a:bodyPr>
          <a:lstStyle/>
          <a:p>
            <a:pPr algn="ctr">
              <a:lnSpc>
                <a:spcPts val="6719"/>
              </a:lnSpc>
            </a:pPr>
            <a:r>
              <a:rPr lang="en-US" b="true" sz="5599">
                <a:solidFill>
                  <a:srgbClr val="EA5458"/>
                </a:solidFill>
                <a:latin typeface="The Seasons Bold"/>
                <a:ea typeface="The Seasons Bold"/>
                <a:cs typeface="The Seasons Bold"/>
                <a:sym typeface="The Seasons Bold"/>
              </a:rPr>
              <a:t>Opportunities</a:t>
            </a:r>
          </a:p>
        </p:txBody>
      </p:sp>
      <p:sp>
        <p:nvSpPr>
          <p:cNvPr name="TextBox 7" id="7"/>
          <p:cNvSpPr txBox="true"/>
          <p:nvPr/>
        </p:nvSpPr>
        <p:spPr>
          <a:xfrm rot="0">
            <a:off x="1968784" y="3288534"/>
            <a:ext cx="15037456" cy="6086475"/>
          </a:xfrm>
          <a:prstGeom prst="rect">
            <a:avLst/>
          </a:prstGeom>
        </p:spPr>
        <p:txBody>
          <a:bodyPr anchor="t" rtlCol="false" tIns="0" lIns="0" bIns="0" rIns="0">
            <a:spAutoFit/>
          </a:bodyPr>
          <a:lstStyle/>
          <a:p>
            <a:pPr algn="just">
              <a:lnSpc>
                <a:spcPts val="4799"/>
              </a:lnSpc>
            </a:pPr>
            <a:r>
              <a:rPr lang="en-US" sz="3999">
                <a:solidFill>
                  <a:srgbClr val="E53A75"/>
                </a:solidFill>
                <a:latin typeface="The Seasons"/>
                <a:ea typeface="The Seasons"/>
                <a:cs typeface="The Seasons"/>
                <a:sym typeface="The Seasons"/>
              </a:rPr>
              <a:t>-Expand market</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-Collaboration with Daycare Center</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-Partnership with Maternity Clinic</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-Educational campaign</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-Provide a subscription plan</a:t>
            </a:r>
          </a:p>
          <a:p>
            <a:pPr algn="just">
              <a:lnSpc>
                <a:spcPts val="47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531425" y="2897302"/>
            <a:ext cx="14936477" cy="6360998"/>
            <a:chOff x="0" y="0"/>
            <a:chExt cx="20687184" cy="8810052"/>
          </a:xfrm>
        </p:grpSpPr>
        <p:sp>
          <p:nvSpPr>
            <p:cNvPr name="Freeform 3" id="3"/>
            <p:cNvSpPr/>
            <p:nvPr/>
          </p:nvSpPr>
          <p:spPr>
            <a:xfrm flipH="false" flipV="false" rot="0">
              <a:off x="0" y="0"/>
              <a:ext cx="20687184" cy="8810052"/>
            </a:xfrm>
            <a:custGeom>
              <a:avLst/>
              <a:gdLst/>
              <a:ahLst/>
              <a:cxnLst/>
              <a:rect r="r" b="b" t="t" l="l"/>
              <a:pathLst>
                <a:path h="8810052" w="20687184">
                  <a:moveTo>
                    <a:pt x="0" y="0"/>
                  </a:moveTo>
                  <a:lnTo>
                    <a:pt x="20687184" y="0"/>
                  </a:lnTo>
                  <a:lnTo>
                    <a:pt x="20687184" y="8810052"/>
                  </a:lnTo>
                  <a:lnTo>
                    <a:pt x="0" y="8810052"/>
                  </a:lnTo>
                  <a:close/>
                </a:path>
              </a:pathLst>
            </a:custGeom>
            <a:solidFill>
              <a:srgbClr val="FEF2F0"/>
            </a:solidFill>
          </p:spPr>
        </p:sp>
      </p:grpSp>
      <p:sp>
        <p:nvSpPr>
          <p:cNvPr name="Freeform 4" id="4"/>
          <p:cNvSpPr/>
          <p:nvPr/>
        </p:nvSpPr>
        <p:spPr>
          <a:xfrm flipH="false" flipV="false" rot="0">
            <a:off x="15294048" y="637760"/>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264551" y="3875211"/>
            <a:ext cx="13470226" cy="4886325"/>
          </a:xfrm>
          <a:prstGeom prst="rect">
            <a:avLst/>
          </a:prstGeom>
        </p:spPr>
        <p:txBody>
          <a:bodyPr anchor="t" rtlCol="false" tIns="0" lIns="0" bIns="0" rIns="0">
            <a:spAutoFit/>
          </a:bodyPr>
          <a:lstStyle/>
          <a:p>
            <a:pPr algn="just">
              <a:lnSpc>
                <a:spcPts val="4799"/>
              </a:lnSpc>
            </a:pPr>
            <a:r>
              <a:rPr lang="en-US" sz="3999">
                <a:solidFill>
                  <a:srgbClr val="E53A75"/>
                </a:solidFill>
                <a:latin typeface="The Seasons"/>
                <a:ea typeface="The Seasons"/>
                <a:cs typeface="The Seasons"/>
                <a:sym typeface="The Seasons"/>
              </a:rPr>
              <a:t>-Competition </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-Customer skepticism</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-Supply chain risks</a:t>
            </a:r>
          </a:p>
          <a:p>
            <a:pPr algn="just">
              <a:lnSpc>
                <a:spcPts val="4799"/>
              </a:lnSpc>
            </a:pPr>
          </a:p>
          <a:p>
            <a:pPr algn="just">
              <a:lnSpc>
                <a:spcPts val="4799"/>
              </a:lnSpc>
            </a:pPr>
            <a:r>
              <a:rPr lang="en-US" sz="3999">
                <a:solidFill>
                  <a:srgbClr val="E53A75"/>
                </a:solidFill>
                <a:latin typeface="The Seasons"/>
                <a:ea typeface="The Seasons"/>
                <a:cs typeface="The Seasons"/>
                <a:sym typeface="The Seasons"/>
              </a:rPr>
              <a:t>-Overdemand (Understaff)</a:t>
            </a:r>
          </a:p>
          <a:p>
            <a:pPr algn="just">
              <a:lnSpc>
                <a:spcPts val="4799"/>
              </a:lnSpc>
              <a:spcBef>
                <a:spcPct val="0"/>
              </a:spcBef>
            </a:pPr>
          </a:p>
        </p:txBody>
      </p:sp>
      <p:sp>
        <p:nvSpPr>
          <p:cNvPr name="Freeform 6" id="6"/>
          <p:cNvSpPr/>
          <p:nvPr/>
        </p:nvSpPr>
        <p:spPr>
          <a:xfrm flipH="false" flipV="false" rot="0">
            <a:off x="12627164" y="5143500"/>
            <a:ext cx="3487293" cy="4114800"/>
          </a:xfrm>
          <a:custGeom>
            <a:avLst/>
            <a:gdLst/>
            <a:ahLst/>
            <a:cxnLst/>
            <a:rect r="r" b="b" t="t" l="l"/>
            <a:pathLst>
              <a:path h="4114800" w="3487293">
                <a:moveTo>
                  <a:pt x="0" y="0"/>
                </a:moveTo>
                <a:lnTo>
                  <a:pt x="3487293" y="0"/>
                </a:lnTo>
                <a:lnTo>
                  <a:pt x="3487293"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31425" y="867175"/>
            <a:ext cx="15225150" cy="969645"/>
          </a:xfrm>
          <a:prstGeom prst="rect">
            <a:avLst/>
          </a:prstGeom>
        </p:spPr>
        <p:txBody>
          <a:bodyPr anchor="t" rtlCol="false" tIns="0" lIns="0" bIns="0" rIns="0">
            <a:spAutoFit/>
          </a:bodyPr>
          <a:lstStyle/>
          <a:p>
            <a:pPr algn="ctr">
              <a:lnSpc>
                <a:spcPts val="6719"/>
              </a:lnSpc>
            </a:pPr>
            <a:r>
              <a:rPr lang="en-US" b="true" sz="5599">
                <a:solidFill>
                  <a:srgbClr val="EA5458"/>
                </a:solidFill>
                <a:latin typeface="The Seasons Bold"/>
                <a:ea typeface="The Seasons Bold"/>
                <a:cs typeface="The Seasons Bold"/>
                <a:sym typeface="The Seasons Bold"/>
              </a:rPr>
              <a:t>Threats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4622774" y="2485258"/>
            <a:ext cx="1555249" cy="1555249"/>
            <a:chOff x="0" y="0"/>
            <a:chExt cx="3130400" cy="3130400"/>
          </a:xfrm>
        </p:grpSpPr>
        <p:sp>
          <p:nvSpPr>
            <p:cNvPr name="Freeform 3" id="3"/>
            <p:cNvSpPr/>
            <p:nvPr/>
          </p:nvSpPr>
          <p:spPr>
            <a:xfrm flipH="false" flipV="false" rot="0">
              <a:off x="0" y="0"/>
              <a:ext cx="3130423" cy="3130423"/>
            </a:xfrm>
            <a:custGeom>
              <a:avLst/>
              <a:gdLst/>
              <a:ahLst/>
              <a:cxnLst/>
              <a:rect r="r" b="b" t="t" l="l"/>
              <a:pathLst>
                <a:path h="3130423" w="3130423">
                  <a:moveTo>
                    <a:pt x="0" y="1565148"/>
                  </a:moveTo>
                  <a:cubicBezTo>
                    <a:pt x="0" y="700786"/>
                    <a:pt x="700786" y="0"/>
                    <a:pt x="1565148" y="0"/>
                  </a:cubicBezTo>
                  <a:cubicBezTo>
                    <a:pt x="2429510" y="0"/>
                    <a:pt x="3130423" y="700786"/>
                    <a:pt x="3130423" y="1565148"/>
                  </a:cubicBezTo>
                  <a:cubicBezTo>
                    <a:pt x="3130423" y="2429510"/>
                    <a:pt x="2429637" y="3130423"/>
                    <a:pt x="1565148" y="3130423"/>
                  </a:cubicBezTo>
                  <a:cubicBezTo>
                    <a:pt x="700659" y="3130423"/>
                    <a:pt x="0" y="2429637"/>
                    <a:pt x="0" y="1565148"/>
                  </a:cubicBezTo>
                  <a:close/>
                </a:path>
              </a:pathLst>
            </a:custGeom>
            <a:solidFill>
              <a:srgbClr val="FEF2F0"/>
            </a:solidFill>
          </p:spPr>
        </p:sp>
      </p:grpSp>
      <p:grpSp>
        <p:nvGrpSpPr>
          <p:cNvPr name="Group 4" id="4"/>
          <p:cNvGrpSpPr/>
          <p:nvPr/>
        </p:nvGrpSpPr>
        <p:grpSpPr>
          <a:xfrm rot="0">
            <a:off x="6020452" y="2485258"/>
            <a:ext cx="8583185" cy="1591508"/>
            <a:chOff x="0" y="0"/>
            <a:chExt cx="15974927" cy="2962096"/>
          </a:xfrm>
        </p:grpSpPr>
        <p:sp>
          <p:nvSpPr>
            <p:cNvPr name="Freeform 5" id="5"/>
            <p:cNvSpPr/>
            <p:nvPr/>
          </p:nvSpPr>
          <p:spPr>
            <a:xfrm flipH="false" flipV="false" rot="0">
              <a:off x="0" y="0"/>
              <a:ext cx="15974929" cy="2962105"/>
            </a:xfrm>
            <a:custGeom>
              <a:avLst/>
              <a:gdLst/>
              <a:ahLst/>
              <a:cxnLst/>
              <a:rect r="r" b="b" t="t" l="l"/>
              <a:pathLst>
                <a:path h="2962105" w="15974929">
                  <a:moveTo>
                    <a:pt x="0" y="0"/>
                  </a:moveTo>
                  <a:lnTo>
                    <a:pt x="15974929" y="0"/>
                  </a:lnTo>
                  <a:lnTo>
                    <a:pt x="15974929" y="2962105"/>
                  </a:lnTo>
                  <a:lnTo>
                    <a:pt x="0" y="2962105"/>
                  </a:lnTo>
                  <a:close/>
                </a:path>
              </a:pathLst>
            </a:custGeom>
            <a:solidFill>
              <a:srgbClr val="FEF2F0"/>
            </a:solidFill>
          </p:spPr>
        </p:sp>
      </p:grpSp>
      <p:sp>
        <p:nvSpPr>
          <p:cNvPr name="Freeform 6" id="6"/>
          <p:cNvSpPr/>
          <p:nvPr/>
        </p:nvSpPr>
        <p:spPr>
          <a:xfrm flipH="false" flipV="false" rot="0">
            <a:off x="15459262" y="388929"/>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6020452" y="4347746"/>
            <a:ext cx="8583185" cy="1591508"/>
            <a:chOff x="0" y="0"/>
            <a:chExt cx="15974927" cy="2962096"/>
          </a:xfrm>
        </p:grpSpPr>
        <p:sp>
          <p:nvSpPr>
            <p:cNvPr name="Freeform 8" id="8"/>
            <p:cNvSpPr/>
            <p:nvPr/>
          </p:nvSpPr>
          <p:spPr>
            <a:xfrm flipH="false" flipV="false" rot="0">
              <a:off x="0" y="0"/>
              <a:ext cx="15974929" cy="2962105"/>
            </a:xfrm>
            <a:custGeom>
              <a:avLst/>
              <a:gdLst/>
              <a:ahLst/>
              <a:cxnLst/>
              <a:rect r="r" b="b" t="t" l="l"/>
              <a:pathLst>
                <a:path h="2962105" w="15974929">
                  <a:moveTo>
                    <a:pt x="0" y="0"/>
                  </a:moveTo>
                  <a:lnTo>
                    <a:pt x="15974929" y="0"/>
                  </a:lnTo>
                  <a:lnTo>
                    <a:pt x="15974929" y="2962105"/>
                  </a:lnTo>
                  <a:lnTo>
                    <a:pt x="0" y="2962105"/>
                  </a:lnTo>
                  <a:close/>
                </a:path>
              </a:pathLst>
            </a:custGeom>
            <a:solidFill>
              <a:srgbClr val="FEF2F0"/>
            </a:solidFill>
          </p:spPr>
        </p:sp>
      </p:grpSp>
      <p:grpSp>
        <p:nvGrpSpPr>
          <p:cNvPr name="Group 9" id="9"/>
          <p:cNvGrpSpPr/>
          <p:nvPr/>
        </p:nvGrpSpPr>
        <p:grpSpPr>
          <a:xfrm rot="0">
            <a:off x="6020452" y="6244054"/>
            <a:ext cx="8583185" cy="1591508"/>
            <a:chOff x="0" y="0"/>
            <a:chExt cx="15974927" cy="2962096"/>
          </a:xfrm>
        </p:grpSpPr>
        <p:sp>
          <p:nvSpPr>
            <p:cNvPr name="Freeform 10" id="10"/>
            <p:cNvSpPr/>
            <p:nvPr/>
          </p:nvSpPr>
          <p:spPr>
            <a:xfrm flipH="false" flipV="false" rot="0">
              <a:off x="0" y="0"/>
              <a:ext cx="15974929" cy="2962105"/>
            </a:xfrm>
            <a:custGeom>
              <a:avLst/>
              <a:gdLst/>
              <a:ahLst/>
              <a:cxnLst/>
              <a:rect r="r" b="b" t="t" l="l"/>
              <a:pathLst>
                <a:path h="2962105" w="15974929">
                  <a:moveTo>
                    <a:pt x="0" y="0"/>
                  </a:moveTo>
                  <a:lnTo>
                    <a:pt x="15974929" y="0"/>
                  </a:lnTo>
                  <a:lnTo>
                    <a:pt x="15974929" y="2962105"/>
                  </a:lnTo>
                  <a:lnTo>
                    <a:pt x="0" y="2962105"/>
                  </a:lnTo>
                  <a:close/>
                </a:path>
              </a:pathLst>
            </a:custGeom>
            <a:solidFill>
              <a:srgbClr val="FEF2F0"/>
            </a:solidFill>
          </p:spPr>
        </p:sp>
      </p:grpSp>
      <p:sp>
        <p:nvSpPr>
          <p:cNvPr name="Freeform 11" id="11"/>
          <p:cNvSpPr/>
          <p:nvPr/>
        </p:nvSpPr>
        <p:spPr>
          <a:xfrm flipH="false" flipV="false" rot="0">
            <a:off x="13203743" y="5143500"/>
            <a:ext cx="5084257" cy="5430448"/>
          </a:xfrm>
          <a:custGeom>
            <a:avLst/>
            <a:gdLst/>
            <a:ahLst/>
            <a:cxnLst/>
            <a:rect r="r" b="b" t="t" l="l"/>
            <a:pathLst>
              <a:path h="5430448" w="5084257">
                <a:moveTo>
                  <a:pt x="0" y="0"/>
                </a:moveTo>
                <a:lnTo>
                  <a:pt x="5084257" y="0"/>
                </a:lnTo>
                <a:lnTo>
                  <a:pt x="5084257" y="5430448"/>
                </a:lnTo>
                <a:lnTo>
                  <a:pt x="0" y="5430448"/>
                </a:lnTo>
                <a:lnTo>
                  <a:pt x="0" y="0"/>
                </a:lnTo>
                <a:close/>
              </a:path>
            </a:pathLst>
          </a:custGeom>
          <a:blipFill>
            <a:blip r:embed="rId5"/>
            <a:stretch>
              <a:fillRect l="0" t="0" r="0" b="0"/>
            </a:stretch>
          </a:blipFill>
        </p:spPr>
      </p:sp>
      <p:sp>
        <p:nvSpPr>
          <p:cNvPr name="Freeform 12" id="12"/>
          <p:cNvSpPr/>
          <p:nvPr/>
        </p:nvSpPr>
        <p:spPr>
          <a:xfrm flipH="false" flipV="false" rot="0">
            <a:off x="-552450" y="5765766"/>
            <a:ext cx="4984724" cy="4808181"/>
          </a:xfrm>
          <a:custGeom>
            <a:avLst/>
            <a:gdLst/>
            <a:ahLst/>
            <a:cxnLst/>
            <a:rect r="r" b="b" t="t" l="l"/>
            <a:pathLst>
              <a:path h="4808181" w="4984724">
                <a:moveTo>
                  <a:pt x="0" y="0"/>
                </a:moveTo>
                <a:lnTo>
                  <a:pt x="4984724" y="0"/>
                </a:lnTo>
                <a:lnTo>
                  <a:pt x="4984724" y="4808182"/>
                </a:lnTo>
                <a:lnTo>
                  <a:pt x="0" y="4808182"/>
                </a:lnTo>
                <a:lnTo>
                  <a:pt x="0" y="0"/>
                </a:lnTo>
                <a:close/>
              </a:path>
            </a:pathLst>
          </a:custGeom>
          <a:blipFill>
            <a:blip r:embed="rId6"/>
            <a:stretch>
              <a:fillRect l="0" t="0" r="0" b="0"/>
            </a:stretch>
          </a:blipFill>
        </p:spPr>
      </p:sp>
      <p:sp>
        <p:nvSpPr>
          <p:cNvPr name="TextBox 13" id="13"/>
          <p:cNvSpPr txBox="true"/>
          <p:nvPr/>
        </p:nvSpPr>
        <p:spPr>
          <a:xfrm rot="0">
            <a:off x="303840" y="56750"/>
            <a:ext cx="17680320" cy="2123708"/>
          </a:xfrm>
          <a:prstGeom prst="rect">
            <a:avLst/>
          </a:prstGeom>
        </p:spPr>
        <p:txBody>
          <a:bodyPr anchor="t" rtlCol="false" tIns="0" lIns="0" bIns="0" rIns="0">
            <a:spAutoFit/>
          </a:bodyPr>
          <a:lstStyle/>
          <a:p>
            <a:pPr algn="ctr">
              <a:lnSpc>
                <a:spcPts val="16722"/>
              </a:lnSpc>
            </a:pPr>
            <a:r>
              <a:rPr lang="en-US" sz="13935">
                <a:solidFill>
                  <a:srgbClr val="EA5458"/>
                </a:solidFill>
                <a:latin typeface="Hangyaboly"/>
                <a:ea typeface="Hangyaboly"/>
                <a:cs typeface="Hangyaboly"/>
                <a:sym typeface="Hangyaboly"/>
              </a:rPr>
              <a:t>Conclusions</a:t>
            </a:r>
          </a:p>
        </p:txBody>
      </p:sp>
      <p:sp>
        <p:nvSpPr>
          <p:cNvPr name="TextBox 14" id="14"/>
          <p:cNvSpPr txBox="true"/>
          <p:nvPr/>
        </p:nvSpPr>
        <p:spPr>
          <a:xfrm rot="0">
            <a:off x="4622774" y="2605088"/>
            <a:ext cx="1203781" cy="2100484"/>
          </a:xfrm>
          <a:prstGeom prst="rect">
            <a:avLst/>
          </a:prstGeom>
        </p:spPr>
        <p:txBody>
          <a:bodyPr anchor="t" rtlCol="false" tIns="0" lIns="0" bIns="0" rIns="0">
            <a:spAutoFit/>
          </a:bodyPr>
          <a:lstStyle/>
          <a:p>
            <a:pPr algn="r">
              <a:lnSpc>
                <a:spcPts val="8301"/>
              </a:lnSpc>
            </a:pPr>
            <a:r>
              <a:rPr lang="en-US" sz="6917">
                <a:solidFill>
                  <a:srgbClr val="EA5458"/>
                </a:solidFill>
                <a:latin typeface="Paytone One"/>
                <a:ea typeface="Paytone One"/>
                <a:cs typeface="Paytone One"/>
                <a:sym typeface="Paytone One"/>
              </a:rPr>
              <a:t>1.</a:t>
            </a:r>
          </a:p>
          <a:p>
            <a:pPr algn="r">
              <a:lnSpc>
                <a:spcPts val="8301"/>
              </a:lnSpc>
            </a:pPr>
          </a:p>
        </p:txBody>
      </p:sp>
      <p:grpSp>
        <p:nvGrpSpPr>
          <p:cNvPr name="Group 15" id="15"/>
          <p:cNvGrpSpPr/>
          <p:nvPr/>
        </p:nvGrpSpPr>
        <p:grpSpPr>
          <a:xfrm rot="0">
            <a:off x="4622774" y="4384005"/>
            <a:ext cx="1555249" cy="1555249"/>
            <a:chOff x="0" y="0"/>
            <a:chExt cx="3130400" cy="3130400"/>
          </a:xfrm>
        </p:grpSpPr>
        <p:sp>
          <p:nvSpPr>
            <p:cNvPr name="Freeform 16" id="16"/>
            <p:cNvSpPr/>
            <p:nvPr/>
          </p:nvSpPr>
          <p:spPr>
            <a:xfrm flipH="false" flipV="false" rot="0">
              <a:off x="0" y="0"/>
              <a:ext cx="3130423" cy="3130423"/>
            </a:xfrm>
            <a:custGeom>
              <a:avLst/>
              <a:gdLst/>
              <a:ahLst/>
              <a:cxnLst/>
              <a:rect r="r" b="b" t="t" l="l"/>
              <a:pathLst>
                <a:path h="3130423" w="3130423">
                  <a:moveTo>
                    <a:pt x="0" y="1565148"/>
                  </a:moveTo>
                  <a:cubicBezTo>
                    <a:pt x="0" y="700786"/>
                    <a:pt x="700786" y="0"/>
                    <a:pt x="1565148" y="0"/>
                  </a:cubicBezTo>
                  <a:cubicBezTo>
                    <a:pt x="2429510" y="0"/>
                    <a:pt x="3130423" y="700786"/>
                    <a:pt x="3130423" y="1565148"/>
                  </a:cubicBezTo>
                  <a:cubicBezTo>
                    <a:pt x="3130423" y="2429510"/>
                    <a:pt x="2429637" y="3130423"/>
                    <a:pt x="1565148" y="3130423"/>
                  </a:cubicBezTo>
                  <a:cubicBezTo>
                    <a:pt x="700659" y="3130423"/>
                    <a:pt x="0" y="2429637"/>
                    <a:pt x="0" y="1565148"/>
                  </a:cubicBezTo>
                  <a:close/>
                </a:path>
              </a:pathLst>
            </a:custGeom>
            <a:solidFill>
              <a:srgbClr val="FEF2F0"/>
            </a:solidFill>
          </p:spPr>
        </p:sp>
      </p:grpSp>
      <p:grpSp>
        <p:nvGrpSpPr>
          <p:cNvPr name="Group 17" id="17"/>
          <p:cNvGrpSpPr/>
          <p:nvPr/>
        </p:nvGrpSpPr>
        <p:grpSpPr>
          <a:xfrm rot="0">
            <a:off x="4622774" y="6215894"/>
            <a:ext cx="1555249" cy="1555249"/>
            <a:chOff x="0" y="0"/>
            <a:chExt cx="3130400" cy="3130400"/>
          </a:xfrm>
        </p:grpSpPr>
        <p:sp>
          <p:nvSpPr>
            <p:cNvPr name="Freeform 18" id="18"/>
            <p:cNvSpPr/>
            <p:nvPr/>
          </p:nvSpPr>
          <p:spPr>
            <a:xfrm flipH="false" flipV="false" rot="0">
              <a:off x="0" y="0"/>
              <a:ext cx="3130423" cy="3130423"/>
            </a:xfrm>
            <a:custGeom>
              <a:avLst/>
              <a:gdLst/>
              <a:ahLst/>
              <a:cxnLst/>
              <a:rect r="r" b="b" t="t" l="l"/>
              <a:pathLst>
                <a:path h="3130423" w="3130423">
                  <a:moveTo>
                    <a:pt x="0" y="1565148"/>
                  </a:moveTo>
                  <a:cubicBezTo>
                    <a:pt x="0" y="700786"/>
                    <a:pt x="700786" y="0"/>
                    <a:pt x="1565148" y="0"/>
                  </a:cubicBezTo>
                  <a:cubicBezTo>
                    <a:pt x="2429510" y="0"/>
                    <a:pt x="3130423" y="700786"/>
                    <a:pt x="3130423" y="1565148"/>
                  </a:cubicBezTo>
                  <a:cubicBezTo>
                    <a:pt x="3130423" y="2429510"/>
                    <a:pt x="2429637" y="3130423"/>
                    <a:pt x="1565148" y="3130423"/>
                  </a:cubicBezTo>
                  <a:cubicBezTo>
                    <a:pt x="700659" y="3130423"/>
                    <a:pt x="0" y="2429637"/>
                    <a:pt x="0" y="1565148"/>
                  </a:cubicBezTo>
                  <a:close/>
                </a:path>
              </a:pathLst>
            </a:custGeom>
            <a:solidFill>
              <a:srgbClr val="FEF2F0"/>
            </a:solidFill>
          </p:spPr>
        </p:sp>
      </p:grpSp>
      <p:sp>
        <p:nvSpPr>
          <p:cNvPr name="TextBox 19" id="19"/>
          <p:cNvSpPr txBox="true"/>
          <p:nvPr/>
        </p:nvSpPr>
        <p:spPr>
          <a:xfrm rot="0">
            <a:off x="5721004" y="4727976"/>
            <a:ext cx="9182081" cy="781582"/>
          </a:xfrm>
          <a:prstGeom prst="rect">
            <a:avLst/>
          </a:prstGeom>
        </p:spPr>
        <p:txBody>
          <a:bodyPr anchor="t" rtlCol="false" tIns="0" lIns="0" bIns="0" rIns="0">
            <a:spAutoFit/>
          </a:bodyPr>
          <a:lstStyle/>
          <a:p>
            <a:pPr algn="ctr">
              <a:lnSpc>
                <a:spcPts val="5566"/>
              </a:lnSpc>
            </a:pPr>
            <a:r>
              <a:rPr lang="en-US" sz="4638">
                <a:solidFill>
                  <a:srgbClr val="EA5458"/>
                </a:solidFill>
                <a:latin typeface="The Seasons"/>
                <a:ea typeface="The Seasons"/>
                <a:cs typeface="The Seasons"/>
                <a:sym typeface="The Seasons"/>
              </a:rPr>
              <a:t> we are also providing services </a:t>
            </a:r>
          </a:p>
        </p:txBody>
      </p:sp>
      <p:sp>
        <p:nvSpPr>
          <p:cNvPr name="TextBox 20" id="20"/>
          <p:cNvSpPr txBox="true"/>
          <p:nvPr/>
        </p:nvSpPr>
        <p:spPr>
          <a:xfrm rot="0">
            <a:off x="5579127" y="2481300"/>
            <a:ext cx="9182081" cy="1477438"/>
          </a:xfrm>
          <a:prstGeom prst="rect">
            <a:avLst/>
          </a:prstGeom>
        </p:spPr>
        <p:txBody>
          <a:bodyPr anchor="t" rtlCol="false" tIns="0" lIns="0" bIns="0" rIns="0">
            <a:spAutoFit/>
          </a:bodyPr>
          <a:lstStyle/>
          <a:p>
            <a:pPr algn="ctr">
              <a:lnSpc>
                <a:spcPts val="5566"/>
              </a:lnSpc>
            </a:pPr>
            <a:r>
              <a:rPr lang="en-US" sz="4638">
                <a:solidFill>
                  <a:srgbClr val="EA5458"/>
                </a:solidFill>
                <a:latin typeface="The Seasons"/>
                <a:ea typeface="The Seasons"/>
                <a:cs typeface="The Seasons"/>
                <a:sym typeface="The Seasons"/>
              </a:rPr>
              <a:t>We are not just selling biodegradable diapers</a:t>
            </a:r>
          </a:p>
        </p:txBody>
      </p:sp>
      <p:sp>
        <p:nvSpPr>
          <p:cNvPr name="TextBox 21" id="21"/>
          <p:cNvSpPr txBox="true"/>
          <p:nvPr/>
        </p:nvSpPr>
        <p:spPr>
          <a:xfrm rot="0">
            <a:off x="6020452" y="6354008"/>
            <a:ext cx="8583185" cy="1285875"/>
          </a:xfrm>
          <a:prstGeom prst="rect">
            <a:avLst/>
          </a:prstGeom>
        </p:spPr>
        <p:txBody>
          <a:bodyPr anchor="t" rtlCol="false" tIns="0" lIns="0" bIns="0" rIns="0">
            <a:spAutoFit/>
          </a:bodyPr>
          <a:lstStyle/>
          <a:p>
            <a:pPr algn="ctr">
              <a:lnSpc>
                <a:spcPts val="4799"/>
              </a:lnSpc>
              <a:spcBef>
                <a:spcPct val="0"/>
              </a:spcBef>
            </a:pPr>
            <a:r>
              <a:rPr lang="en-US" sz="3999">
                <a:solidFill>
                  <a:srgbClr val="E53A75"/>
                </a:solidFill>
                <a:latin typeface="The Seasons"/>
                <a:ea typeface="The Seasons"/>
                <a:cs typeface="The Seasons"/>
                <a:sym typeface="The Seasons"/>
              </a:rPr>
              <a:t>as well as babysitting to assist busy parents.</a:t>
            </a:r>
          </a:p>
        </p:txBody>
      </p:sp>
      <p:sp>
        <p:nvSpPr>
          <p:cNvPr name="TextBox 22" id="22"/>
          <p:cNvSpPr txBox="true"/>
          <p:nvPr/>
        </p:nvSpPr>
        <p:spPr>
          <a:xfrm rot="0">
            <a:off x="4622774" y="4595935"/>
            <a:ext cx="1203781" cy="1055005"/>
          </a:xfrm>
          <a:prstGeom prst="rect">
            <a:avLst/>
          </a:prstGeom>
        </p:spPr>
        <p:txBody>
          <a:bodyPr anchor="t" rtlCol="false" tIns="0" lIns="0" bIns="0" rIns="0">
            <a:spAutoFit/>
          </a:bodyPr>
          <a:lstStyle/>
          <a:p>
            <a:pPr algn="r">
              <a:lnSpc>
                <a:spcPts val="8301"/>
              </a:lnSpc>
            </a:pPr>
            <a:r>
              <a:rPr lang="en-US" sz="6917">
                <a:solidFill>
                  <a:srgbClr val="EA5458"/>
                </a:solidFill>
                <a:latin typeface="Paytone One"/>
                <a:ea typeface="Paytone One"/>
                <a:cs typeface="Paytone One"/>
                <a:sym typeface="Paytone One"/>
              </a:rPr>
              <a:t>2.</a:t>
            </a:r>
          </a:p>
        </p:txBody>
      </p:sp>
      <p:sp>
        <p:nvSpPr>
          <p:cNvPr name="TextBox 23" id="23"/>
          <p:cNvSpPr txBox="true"/>
          <p:nvPr/>
        </p:nvSpPr>
        <p:spPr>
          <a:xfrm rot="0">
            <a:off x="4622774" y="6377404"/>
            <a:ext cx="1203781" cy="1055005"/>
          </a:xfrm>
          <a:prstGeom prst="rect">
            <a:avLst/>
          </a:prstGeom>
        </p:spPr>
        <p:txBody>
          <a:bodyPr anchor="t" rtlCol="false" tIns="0" lIns="0" bIns="0" rIns="0">
            <a:spAutoFit/>
          </a:bodyPr>
          <a:lstStyle/>
          <a:p>
            <a:pPr algn="r">
              <a:lnSpc>
                <a:spcPts val="8301"/>
              </a:lnSpc>
            </a:pPr>
            <a:r>
              <a:rPr lang="en-US" sz="6917">
                <a:solidFill>
                  <a:srgbClr val="EA5458"/>
                </a:solidFill>
                <a:latin typeface="Paytone One"/>
                <a:ea typeface="Paytone One"/>
                <a:cs typeface="Paytone One"/>
                <a:sym typeface="Paytone One"/>
              </a:rPr>
              <a:t>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D4D0"/>
        </a:solidFill>
      </p:bgPr>
    </p:bg>
    <p:spTree>
      <p:nvGrpSpPr>
        <p:cNvPr id="1" name=""/>
        <p:cNvGrpSpPr/>
        <p:nvPr/>
      </p:nvGrpSpPr>
      <p:grpSpPr>
        <a:xfrm>
          <a:off x="0" y="0"/>
          <a:ext cx="0" cy="0"/>
          <a:chOff x="0" y="0"/>
          <a:chExt cx="0" cy="0"/>
        </a:xfrm>
      </p:grpSpPr>
      <p:grpSp>
        <p:nvGrpSpPr>
          <p:cNvPr name="Group 2" id="2"/>
          <p:cNvGrpSpPr/>
          <p:nvPr/>
        </p:nvGrpSpPr>
        <p:grpSpPr>
          <a:xfrm rot="0">
            <a:off x="14633100" y="0"/>
            <a:ext cx="3647400" cy="10287000"/>
            <a:chOff x="0" y="0"/>
            <a:chExt cx="4863200" cy="13716000"/>
          </a:xfrm>
        </p:grpSpPr>
        <p:sp>
          <p:nvSpPr>
            <p:cNvPr name="Freeform 3" id="3"/>
            <p:cNvSpPr/>
            <p:nvPr/>
          </p:nvSpPr>
          <p:spPr>
            <a:xfrm flipH="false" flipV="false" rot="0">
              <a:off x="0" y="0"/>
              <a:ext cx="4863211" cy="13716000"/>
            </a:xfrm>
            <a:custGeom>
              <a:avLst/>
              <a:gdLst/>
              <a:ahLst/>
              <a:cxnLst/>
              <a:rect r="r" b="b" t="t" l="l"/>
              <a:pathLst>
                <a:path h="13716000" w="4863211">
                  <a:moveTo>
                    <a:pt x="0" y="0"/>
                  </a:moveTo>
                  <a:lnTo>
                    <a:pt x="4863211" y="0"/>
                  </a:lnTo>
                  <a:lnTo>
                    <a:pt x="4863211" y="13716000"/>
                  </a:lnTo>
                  <a:lnTo>
                    <a:pt x="0" y="13716000"/>
                  </a:lnTo>
                  <a:close/>
                </a:path>
              </a:pathLst>
            </a:custGeom>
            <a:solidFill>
              <a:srgbClr val="FEF2F0"/>
            </a:solidFill>
          </p:spPr>
        </p:sp>
      </p:grpSp>
      <p:sp>
        <p:nvSpPr>
          <p:cNvPr name="Freeform 4" id="4"/>
          <p:cNvSpPr/>
          <p:nvPr/>
        </p:nvSpPr>
        <p:spPr>
          <a:xfrm flipH="false" flipV="false" rot="0">
            <a:off x="15279492" y="652618"/>
            <a:ext cx="2347708" cy="2259542"/>
          </a:xfrm>
          <a:custGeom>
            <a:avLst/>
            <a:gdLst/>
            <a:ahLst/>
            <a:cxnLst/>
            <a:rect r="r" b="b" t="t" l="l"/>
            <a:pathLst>
              <a:path h="2259542" w="2347708">
                <a:moveTo>
                  <a:pt x="0" y="0"/>
                </a:moveTo>
                <a:lnTo>
                  <a:pt x="2347708" y="0"/>
                </a:lnTo>
                <a:lnTo>
                  <a:pt x="2347708" y="2259542"/>
                </a:lnTo>
                <a:lnTo>
                  <a:pt x="0" y="2259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555653" y="3701415"/>
            <a:ext cx="9176693" cy="2884170"/>
            <a:chOff x="0" y="0"/>
            <a:chExt cx="12235591" cy="3845560"/>
          </a:xfrm>
        </p:grpSpPr>
        <p:sp>
          <p:nvSpPr>
            <p:cNvPr name="Freeform 6" id="6"/>
            <p:cNvSpPr/>
            <p:nvPr/>
          </p:nvSpPr>
          <p:spPr>
            <a:xfrm flipH="false" flipV="false" rot="0">
              <a:off x="0" y="0"/>
              <a:ext cx="12235591" cy="3845560"/>
            </a:xfrm>
            <a:custGeom>
              <a:avLst/>
              <a:gdLst/>
              <a:ahLst/>
              <a:cxnLst/>
              <a:rect r="r" b="b" t="t" l="l"/>
              <a:pathLst>
                <a:path h="3845560" w="12235591">
                  <a:moveTo>
                    <a:pt x="0" y="0"/>
                  </a:moveTo>
                  <a:lnTo>
                    <a:pt x="12235591" y="0"/>
                  </a:lnTo>
                  <a:lnTo>
                    <a:pt x="12235591" y="3845560"/>
                  </a:lnTo>
                  <a:lnTo>
                    <a:pt x="0" y="3845560"/>
                  </a:lnTo>
                  <a:close/>
                </a:path>
              </a:pathLst>
            </a:custGeom>
            <a:solidFill>
              <a:srgbClr val="000000">
                <a:alpha val="0"/>
              </a:srgbClr>
            </a:solidFill>
          </p:spPr>
        </p:sp>
        <p:sp>
          <p:nvSpPr>
            <p:cNvPr name="TextBox 7" id="7"/>
            <p:cNvSpPr txBox="true"/>
            <p:nvPr/>
          </p:nvSpPr>
          <p:spPr>
            <a:xfrm>
              <a:off x="0" y="0"/>
              <a:ext cx="12235591" cy="3845560"/>
            </a:xfrm>
            <a:prstGeom prst="rect">
              <a:avLst/>
            </a:prstGeom>
          </p:spPr>
          <p:txBody>
            <a:bodyPr anchor="ctr" rtlCol="false" tIns="0" lIns="0" bIns="0" rIns="0"/>
            <a:lstStyle/>
            <a:p>
              <a:pPr algn="l">
                <a:lnSpc>
                  <a:spcPts val="18000"/>
                </a:lnSpc>
              </a:pPr>
              <a:r>
                <a:rPr lang="en-US" sz="15000">
                  <a:solidFill>
                    <a:srgbClr val="EA5458"/>
                  </a:solidFill>
                  <a:latin typeface="Hangyaboly"/>
                  <a:ea typeface="Hangyaboly"/>
                  <a:cs typeface="Hangyaboly"/>
                  <a:sym typeface="Hangyaboly"/>
                </a:rPr>
                <a:t>Thank You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DAG4Zrv26ps</dc:identifier>
  <dcterms:modified xsi:type="dcterms:W3CDTF">2011-08-01T06:04:30Z</dcterms:modified>
  <cp:revision>1</cp:revision>
  <dc:title>Diaper Changers, Inc.pptx</dc:title>
</cp:coreProperties>
</file>